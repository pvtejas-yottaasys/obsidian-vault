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58" r:id="rId5"/>
    <p:sldId id="25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8" autoAdjust="0"/>
    <p:restoredTop sz="94660"/>
  </p:normalViewPr>
  <p:slideViewPr>
    <p:cSldViewPr snapToGrid="0">
      <p:cViewPr>
        <p:scale>
          <a:sx n="100" d="100"/>
          <a:sy n="100" d="100"/>
        </p:scale>
        <p:origin x="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9F32E-693E-B25F-C4A8-8AF774D1B4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2EA93C8-0F64-C96F-227A-C3067D5BBE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9848528-80B3-FC76-0484-DAA30D3C3EB7}"/>
              </a:ext>
            </a:extLst>
          </p:cNvPr>
          <p:cNvSpPr>
            <a:spLocks noGrp="1"/>
          </p:cNvSpPr>
          <p:nvPr>
            <p:ph type="dt" sz="half" idx="10"/>
          </p:nvPr>
        </p:nvSpPr>
        <p:spPr/>
        <p:txBody>
          <a:bodyPr/>
          <a:lstStyle/>
          <a:p>
            <a:fld id="{32FAE18F-3EFF-4C6F-AA42-A5AB4040BF05}" type="datetimeFigureOut">
              <a:rPr lang="en-US" smtClean="0"/>
              <a:t>10/19/2022</a:t>
            </a:fld>
            <a:endParaRPr lang="en-US"/>
          </a:p>
        </p:txBody>
      </p:sp>
      <p:sp>
        <p:nvSpPr>
          <p:cNvPr id="5" name="Footer Placeholder 4">
            <a:extLst>
              <a:ext uri="{FF2B5EF4-FFF2-40B4-BE49-F238E27FC236}">
                <a16:creationId xmlns:a16="http://schemas.microsoft.com/office/drawing/2014/main" id="{45F6F6ED-FA12-FB88-A1C1-CBB8854C07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F5513E-843B-840B-E73E-CBAA5972A07B}"/>
              </a:ext>
            </a:extLst>
          </p:cNvPr>
          <p:cNvSpPr>
            <a:spLocks noGrp="1"/>
          </p:cNvSpPr>
          <p:nvPr>
            <p:ph type="sldNum" sz="quarter" idx="12"/>
          </p:nvPr>
        </p:nvSpPr>
        <p:spPr/>
        <p:txBody>
          <a:bodyPr/>
          <a:lstStyle/>
          <a:p>
            <a:fld id="{2550199D-BE0D-44CF-9EAD-CFD91A6926FF}" type="slidenum">
              <a:rPr lang="en-US" smtClean="0"/>
              <a:t>‹#›</a:t>
            </a:fld>
            <a:endParaRPr lang="en-US"/>
          </a:p>
        </p:txBody>
      </p:sp>
    </p:spTree>
    <p:extLst>
      <p:ext uri="{BB962C8B-B14F-4D97-AF65-F5344CB8AC3E}">
        <p14:creationId xmlns:p14="http://schemas.microsoft.com/office/powerpoint/2010/main" val="18104850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4E822-74DD-938B-05E0-2B7175473C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425AAF-43FE-14B3-8798-B9136385F4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0869F1-27CD-9656-2C09-87EA156847CC}"/>
              </a:ext>
            </a:extLst>
          </p:cNvPr>
          <p:cNvSpPr>
            <a:spLocks noGrp="1"/>
          </p:cNvSpPr>
          <p:nvPr>
            <p:ph type="dt" sz="half" idx="10"/>
          </p:nvPr>
        </p:nvSpPr>
        <p:spPr/>
        <p:txBody>
          <a:bodyPr/>
          <a:lstStyle/>
          <a:p>
            <a:fld id="{32FAE18F-3EFF-4C6F-AA42-A5AB4040BF05}" type="datetimeFigureOut">
              <a:rPr lang="en-US" smtClean="0"/>
              <a:t>10/19/2022</a:t>
            </a:fld>
            <a:endParaRPr lang="en-US"/>
          </a:p>
        </p:txBody>
      </p:sp>
      <p:sp>
        <p:nvSpPr>
          <p:cNvPr id="5" name="Footer Placeholder 4">
            <a:extLst>
              <a:ext uri="{FF2B5EF4-FFF2-40B4-BE49-F238E27FC236}">
                <a16:creationId xmlns:a16="http://schemas.microsoft.com/office/drawing/2014/main" id="{F846D8AF-3529-E564-D252-9AEA1A5FC9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0B40E4-582F-88E6-FAB0-596DE54BB0EC}"/>
              </a:ext>
            </a:extLst>
          </p:cNvPr>
          <p:cNvSpPr>
            <a:spLocks noGrp="1"/>
          </p:cNvSpPr>
          <p:nvPr>
            <p:ph type="sldNum" sz="quarter" idx="12"/>
          </p:nvPr>
        </p:nvSpPr>
        <p:spPr/>
        <p:txBody>
          <a:bodyPr/>
          <a:lstStyle/>
          <a:p>
            <a:fld id="{2550199D-BE0D-44CF-9EAD-CFD91A6926FF}" type="slidenum">
              <a:rPr lang="en-US" smtClean="0"/>
              <a:t>‹#›</a:t>
            </a:fld>
            <a:endParaRPr lang="en-US"/>
          </a:p>
        </p:txBody>
      </p:sp>
    </p:spTree>
    <p:extLst>
      <p:ext uri="{BB962C8B-B14F-4D97-AF65-F5344CB8AC3E}">
        <p14:creationId xmlns:p14="http://schemas.microsoft.com/office/powerpoint/2010/main" val="1793773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C81FD-D2CD-2EE2-CC41-00AE3A15CA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BAF3B5-171F-D467-9823-E898BF9621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B3F569-F4BF-562E-8975-09F6034ECA7C}"/>
              </a:ext>
            </a:extLst>
          </p:cNvPr>
          <p:cNvSpPr>
            <a:spLocks noGrp="1"/>
          </p:cNvSpPr>
          <p:nvPr>
            <p:ph type="dt" sz="half" idx="10"/>
          </p:nvPr>
        </p:nvSpPr>
        <p:spPr/>
        <p:txBody>
          <a:bodyPr/>
          <a:lstStyle/>
          <a:p>
            <a:fld id="{32FAE18F-3EFF-4C6F-AA42-A5AB4040BF05}" type="datetimeFigureOut">
              <a:rPr lang="en-US" smtClean="0"/>
              <a:t>10/19/2022</a:t>
            </a:fld>
            <a:endParaRPr lang="en-US"/>
          </a:p>
        </p:txBody>
      </p:sp>
      <p:sp>
        <p:nvSpPr>
          <p:cNvPr id="5" name="Footer Placeholder 4">
            <a:extLst>
              <a:ext uri="{FF2B5EF4-FFF2-40B4-BE49-F238E27FC236}">
                <a16:creationId xmlns:a16="http://schemas.microsoft.com/office/drawing/2014/main" id="{3E0BD5BE-86A7-5164-95B4-D5B5AA952D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1E71B4-42E0-E21A-B3D8-37518235A490}"/>
              </a:ext>
            </a:extLst>
          </p:cNvPr>
          <p:cNvSpPr>
            <a:spLocks noGrp="1"/>
          </p:cNvSpPr>
          <p:nvPr>
            <p:ph type="sldNum" sz="quarter" idx="12"/>
          </p:nvPr>
        </p:nvSpPr>
        <p:spPr/>
        <p:txBody>
          <a:bodyPr/>
          <a:lstStyle/>
          <a:p>
            <a:fld id="{2550199D-BE0D-44CF-9EAD-CFD91A6926FF}" type="slidenum">
              <a:rPr lang="en-US" smtClean="0"/>
              <a:t>‹#›</a:t>
            </a:fld>
            <a:endParaRPr lang="en-US"/>
          </a:p>
        </p:txBody>
      </p:sp>
    </p:spTree>
    <p:extLst>
      <p:ext uri="{BB962C8B-B14F-4D97-AF65-F5344CB8AC3E}">
        <p14:creationId xmlns:p14="http://schemas.microsoft.com/office/powerpoint/2010/main" val="26325755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B2E2-3421-8FEA-463A-858235F9DF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F8D14E-A7D2-A136-E76E-48DC31149D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BDD07D-A223-B955-3A4F-AA20900AB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B0CB4E-3B7D-791C-8F68-E5B199025E09}"/>
              </a:ext>
            </a:extLst>
          </p:cNvPr>
          <p:cNvSpPr>
            <a:spLocks noGrp="1"/>
          </p:cNvSpPr>
          <p:nvPr>
            <p:ph type="dt" sz="half" idx="10"/>
          </p:nvPr>
        </p:nvSpPr>
        <p:spPr/>
        <p:txBody>
          <a:bodyPr/>
          <a:lstStyle/>
          <a:p>
            <a:fld id="{32FAE18F-3EFF-4C6F-AA42-A5AB4040BF05}" type="datetimeFigureOut">
              <a:rPr lang="en-US" smtClean="0"/>
              <a:t>10/19/2022</a:t>
            </a:fld>
            <a:endParaRPr lang="en-US"/>
          </a:p>
        </p:txBody>
      </p:sp>
      <p:sp>
        <p:nvSpPr>
          <p:cNvPr id="6" name="Footer Placeholder 5">
            <a:extLst>
              <a:ext uri="{FF2B5EF4-FFF2-40B4-BE49-F238E27FC236}">
                <a16:creationId xmlns:a16="http://schemas.microsoft.com/office/drawing/2014/main" id="{41743BBB-D44F-1CFB-5F09-4F67E0963C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E52BB5-F5DC-AEB8-C686-35F1927596D4}"/>
              </a:ext>
            </a:extLst>
          </p:cNvPr>
          <p:cNvSpPr>
            <a:spLocks noGrp="1"/>
          </p:cNvSpPr>
          <p:nvPr>
            <p:ph type="sldNum" sz="quarter" idx="12"/>
          </p:nvPr>
        </p:nvSpPr>
        <p:spPr/>
        <p:txBody>
          <a:bodyPr/>
          <a:lstStyle/>
          <a:p>
            <a:fld id="{2550199D-BE0D-44CF-9EAD-CFD91A6926FF}" type="slidenum">
              <a:rPr lang="en-US" smtClean="0"/>
              <a:t>‹#›</a:t>
            </a:fld>
            <a:endParaRPr lang="en-US"/>
          </a:p>
        </p:txBody>
      </p:sp>
    </p:spTree>
    <p:extLst>
      <p:ext uri="{BB962C8B-B14F-4D97-AF65-F5344CB8AC3E}">
        <p14:creationId xmlns:p14="http://schemas.microsoft.com/office/powerpoint/2010/main" val="2036375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60B23-876C-DBE1-0893-8232B9F01B6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3A9A037-54D8-7BEF-FB4B-6E43BE38A9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5CA654-790D-323B-CFCB-1733A0FF0D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0BF1DD-6249-2D9E-87B6-9F8B05462B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5CEC11-E88F-7BA0-3EB5-9D1A6D579D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A650E4-A5EA-1899-75F4-EF226B783DD7}"/>
              </a:ext>
            </a:extLst>
          </p:cNvPr>
          <p:cNvSpPr>
            <a:spLocks noGrp="1"/>
          </p:cNvSpPr>
          <p:nvPr>
            <p:ph type="dt" sz="half" idx="10"/>
          </p:nvPr>
        </p:nvSpPr>
        <p:spPr/>
        <p:txBody>
          <a:bodyPr/>
          <a:lstStyle/>
          <a:p>
            <a:fld id="{32FAE18F-3EFF-4C6F-AA42-A5AB4040BF05}" type="datetimeFigureOut">
              <a:rPr lang="en-US" smtClean="0"/>
              <a:t>10/19/2022</a:t>
            </a:fld>
            <a:endParaRPr lang="en-US"/>
          </a:p>
        </p:txBody>
      </p:sp>
      <p:sp>
        <p:nvSpPr>
          <p:cNvPr id="8" name="Footer Placeholder 7">
            <a:extLst>
              <a:ext uri="{FF2B5EF4-FFF2-40B4-BE49-F238E27FC236}">
                <a16:creationId xmlns:a16="http://schemas.microsoft.com/office/drawing/2014/main" id="{D0266FAF-B59D-0BCD-B0BF-271104A307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F8B4556-CB9E-A10E-B1B2-5D946A1568E6}"/>
              </a:ext>
            </a:extLst>
          </p:cNvPr>
          <p:cNvSpPr>
            <a:spLocks noGrp="1"/>
          </p:cNvSpPr>
          <p:nvPr>
            <p:ph type="sldNum" sz="quarter" idx="12"/>
          </p:nvPr>
        </p:nvSpPr>
        <p:spPr/>
        <p:txBody>
          <a:bodyPr/>
          <a:lstStyle/>
          <a:p>
            <a:fld id="{2550199D-BE0D-44CF-9EAD-CFD91A6926FF}" type="slidenum">
              <a:rPr lang="en-US" smtClean="0"/>
              <a:t>‹#›</a:t>
            </a:fld>
            <a:endParaRPr lang="en-US"/>
          </a:p>
        </p:txBody>
      </p:sp>
    </p:spTree>
    <p:extLst>
      <p:ext uri="{BB962C8B-B14F-4D97-AF65-F5344CB8AC3E}">
        <p14:creationId xmlns:p14="http://schemas.microsoft.com/office/powerpoint/2010/main" val="279273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EA06C-E130-54B3-812B-964A43DD84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527DF02-6AE0-D9D7-A2B2-4B4EE6C335CC}"/>
              </a:ext>
            </a:extLst>
          </p:cNvPr>
          <p:cNvSpPr>
            <a:spLocks noGrp="1"/>
          </p:cNvSpPr>
          <p:nvPr>
            <p:ph type="dt" sz="half" idx="10"/>
          </p:nvPr>
        </p:nvSpPr>
        <p:spPr/>
        <p:txBody>
          <a:bodyPr/>
          <a:lstStyle/>
          <a:p>
            <a:fld id="{32FAE18F-3EFF-4C6F-AA42-A5AB4040BF05}" type="datetimeFigureOut">
              <a:rPr lang="en-US" smtClean="0"/>
              <a:t>10/19/2022</a:t>
            </a:fld>
            <a:endParaRPr lang="en-US"/>
          </a:p>
        </p:txBody>
      </p:sp>
      <p:sp>
        <p:nvSpPr>
          <p:cNvPr id="4" name="Footer Placeholder 3">
            <a:extLst>
              <a:ext uri="{FF2B5EF4-FFF2-40B4-BE49-F238E27FC236}">
                <a16:creationId xmlns:a16="http://schemas.microsoft.com/office/drawing/2014/main" id="{FE40ED8E-0C94-E301-8F8D-2A3A4F26D5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971E022-C83D-27FB-7021-60C8E7418246}"/>
              </a:ext>
            </a:extLst>
          </p:cNvPr>
          <p:cNvSpPr>
            <a:spLocks noGrp="1"/>
          </p:cNvSpPr>
          <p:nvPr>
            <p:ph type="sldNum" sz="quarter" idx="12"/>
          </p:nvPr>
        </p:nvSpPr>
        <p:spPr/>
        <p:txBody>
          <a:bodyPr/>
          <a:lstStyle/>
          <a:p>
            <a:fld id="{2550199D-BE0D-44CF-9EAD-CFD91A6926FF}" type="slidenum">
              <a:rPr lang="en-US" smtClean="0"/>
              <a:t>‹#›</a:t>
            </a:fld>
            <a:endParaRPr lang="en-US"/>
          </a:p>
        </p:txBody>
      </p:sp>
    </p:spTree>
    <p:extLst>
      <p:ext uri="{BB962C8B-B14F-4D97-AF65-F5344CB8AC3E}">
        <p14:creationId xmlns:p14="http://schemas.microsoft.com/office/powerpoint/2010/main" val="2180255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D5BBC3-C500-185D-E33D-96E9FA94D2BB}"/>
              </a:ext>
            </a:extLst>
          </p:cNvPr>
          <p:cNvSpPr>
            <a:spLocks noGrp="1"/>
          </p:cNvSpPr>
          <p:nvPr>
            <p:ph type="dt" sz="half" idx="10"/>
          </p:nvPr>
        </p:nvSpPr>
        <p:spPr/>
        <p:txBody>
          <a:bodyPr/>
          <a:lstStyle/>
          <a:p>
            <a:fld id="{32FAE18F-3EFF-4C6F-AA42-A5AB4040BF05}" type="datetimeFigureOut">
              <a:rPr lang="en-US" smtClean="0"/>
              <a:t>10/19/2022</a:t>
            </a:fld>
            <a:endParaRPr lang="en-US"/>
          </a:p>
        </p:txBody>
      </p:sp>
      <p:sp>
        <p:nvSpPr>
          <p:cNvPr id="3" name="Footer Placeholder 2">
            <a:extLst>
              <a:ext uri="{FF2B5EF4-FFF2-40B4-BE49-F238E27FC236}">
                <a16:creationId xmlns:a16="http://schemas.microsoft.com/office/drawing/2014/main" id="{E70DFE83-63E5-05AF-E3E7-9BA750012C7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BC1B6BF-F3B4-BA36-F3AD-1A0A1A7ED5E9}"/>
              </a:ext>
            </a:extLst>
          </p:cNvPr>
          <p:cNvSpPr>
            <a:spLocks noGrp="1"/>
          </p:cNvSpPr>
          <p:nvPr>
            <p:ph type="sldNum" sz="quarter" idx="12"/>
          </p:nvPr>
        </p:nvSpPr>
        <p:spPr/>
        <p:txBody>
          <a:bodyPr/>
          <a:lstStyle/>
          <a:p>
            <a:fld id="{2550199D-BE0D-44CF-9EAD-CFD91A6926FF}" type="slidenum">
              <a:rPr lang="en-US" smtClean="0"/>
              <a:t>‹#›</a:t>
            </a:fld>
            <a:endParaRPr lang="en-US"/>
          </a:p>
        </p:txBody>
      </p:sp>
    </p:spTree>
    <p:extLst>
      <p:ext uri="{BB962C8B-B14F-4D97-AF65-F5344CB8AC3E}">
        <p14:creationId xmlns:p14="http://schemas.microsoft.com/office/powerpoint/2010/main" val="3871643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D0706-E631-B457-844C-B5CDF81E2E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80EB051-1692-1762-FC58-12F9F3BBA6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2B31B1D-BBDB-1277-9A3B-C79DE6A057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2C04F4-84A4-5A2C-BC16-2ECFB3DCD8CE}"/>
              </a:ext>
            </a:extLst>
          </p:cNvPr>
          <p:cNvSpPr>
            <a:spLocks noGrp="1"/>
          </p:cNvSpPr>
          <p:nvPr>
            <p:ph type="dt" sz="half" idx="10"/>
          </p:nvPr>
        </p:nvSpPr>
        <p:spPr/>
        <p:txBody>
          <a:bodyPr/>
          <a:lstStyle/>
          <a:p>
            <a:fld id="{32FAE18F-3EFF-4C6F-AA42-A5AB4040BF05}" type="datetimeFigureOut">
              <a:rPr lang="en-US" smtClean="0"/>
              <a:t>10/19/2022</a:t>
            </a:fld>
            <a:endParaRPr lang="en-US"/>
          </a:p>
        </p:txBody>
      </p:sp>
      <p:sp>
        <p:nvSpPr>
          <p:cNvPr id="6" name="Footer Placeholder 5">
            <a:extLst>
              <a:ext uri="{FF2B5EF4-FFF2-40B4-BE49-F238E27FC236}">
                <a16:creationId xmlns:a16="http://schemas.microsoft.com/office/drawing/2014/main" id="{391A5201-CB73-3B7F-0B8B-246E078360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E3E820-C0E8-93D3-5351-269C40FA2C5F}"/>
              </a:ext>
            </a:extLst>
          </p:cNvPr>
          <p:cNvSpPr>
            <a:spLocks noGrp="1"/>
          </p:cNvSpPr>
          <p:nvPr>
            <p:ph type="sldNum" sz="quarter" idx="12"/>
          </p:nvPr>
        </p:nvSpPr>
        <p:spPr/>
        <p:txBody>
          <a:bodyPr/>
          <a:lstStyle/>
          <a:p>
            <a:fld id="{2550199D-BE0D-44CF-9EAD-CFD91A6926FF}" type="slidenum">
              <a:rPr lang="en-US" smtClean="0"/>
              <a:t>‹#›</a:t>
            </a:fld>
            <a:endParaRPr lang="en-US"/>
          </a:p>
        </p:txBody>
      </p:sp>
    </p:spTree>
    <p:extLst>
      <p:ext uri="{BB962C8B-B14F-4D97-AF65-F5344CB8AC3E}">
        <p14:creationId xmlns:p14="http://schemas.microsoft.com/office/powerpoint/2010/main" val="28247015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61403-81F4-DB1E-9DF0-C15C76212F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AEC1F2-765B-5AD4-AD64-532EA9E423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3CEFD5-1E37-D1C6-5BC3-75E60CF41D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6B7FCB-A24E-DC9D-8997-69B744D210A6}"/>
              </a:ext>
            </a:extLst>
          </p:cNvPr>
          <p:cNvSpPr>
            <a:spLocks noGrp="1"/>
          </p:cNvSpPr>
          <p:nvPr>
            <p:ph type="dt" sz="half" idx="10"/>
          </p:nvPr>
        </p:nvSpPr>
        <p:spPr/>
        <p:txBody>
          <a:bodyPr/>
          <a:lstStyle/>
          <a:p>
            <a:fld id="{32FAE18F-3EFF-4C6F-AA42-A5AB4040BF05}" type="datetimeFigureOut">
              <a:rPr lang="en-US" smtClean="0"/>
              <a:t>10/19/2022</a:t>
            </a:fld>
            <a:endParaRPr lang="en-US"/>
          </a:p>
        </p:txBody>
      </p:sp>
      <p:sp>
        <p:nvSpPr>
          <p:cNvPr id="6" name="Footer Placeholder 5">
            <a:extLst>
              <a:ext uri="{FF2B5EF4-FFF2-40B4-BE49-F238E27FC236}">
                <a16:creationId xmlns:a16="http://schemas.microsoft.com/office/drawing/2014/main" id="{A0DD6ED7-E01E-2724-8B23-246D6746EE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FE7530-7CCF-FFE5-AD36-BF214E72A4C8}"/>
              </a:ext>
            </a:extLst>
          </p:cNvPr>
          <p:cNvSpPr>
            <a:spLocks noGrp="1"/>
          </p:cNvSpPr>
          <p:nvPr>
            <p:ph type="sldNum" sz="quarter" idx="12"/>
          </p:nvPr>
        </p:nvSpPr>
        <p:spPr/>
        <p:txBody>
          <a:bodyPr/>
          <a:lstStyle/>
          <a:p>
            <a:fld id="{2550199D-BE0D-44CF-9EAD-CFD91A6926FF}" type="slidenum">
              <a:rPr lang="en-US" smtClean="0"/>
              <a:t>‹#›</a:t>
            </a:fld>
            <a:endParaRPr lang="en-US"/>
          </a:p>
        </p:txBody>
      </p:sp>
    </p:spTree>
    <p:extLst>
      <p:ext uri="{BB962C8B-B14F-4D97-AF65-F5344CB8AC3E}">
        <p14:creationId xmlns:p14="http://schemas.microsoft.com/office/powerpoint/2010/main" val="1146844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AFC9F-D242-03CA-FF27-716784604B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F08E80-B65B-90B8-584C-AC238B5A629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59ED8F-C5B4-EDF2-5A80-888CE350D8D3}"/>
              </a:ext>
            </a:extLst>
          </p:cNvPr>
          <p:cNvSpPr>
            <a:spLocks noGrp="1"/>
          </p:cNvSpPr>
          <p:nvPr>
            <p:ph type="dt" sz="half" idx="10"/>
          </p:nvPr>
        </p:nvSpPr>
        <p:spPr/>
        <p:txBody>
          <a:bodyPr/>
          <a:lstStyle/>
          <a:p>
            <a:fld id="{32FAE18F-3EFF-4C6F-AA42-A5AB4040BF05}" type="datetimeFigureOut">
              <a:rPr lang="en-US" smtClean="0"/>
              <a:t>10/19/2022</a:t>
            </a:fld>
            <a:endParaRPr lang="en-US"/>
          </a:p>
        </p:txBody>
      </p:sp>
      <p:sp>
        <p:nvSpPr>
          <p:cNvPr id="5" name="Footer Placeholder 4">
            <a:extLst>
              <a:ext uri="{FF2B5EF4-FFF2-40B4-BE49-F238E27FC236}">
                <a16:creationId xmlns:a16="http://schemas.microsoft.com/office/drawing/2014/main" id="{9D979484-1779-C707-76B5-D1A58367F2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45F247-8551-FD78-1F68-3F03A9851282}"/>
              </a:ext>
            </a:extLst>
          </p:cNvPr>
          <p:cNvSpPr>
            <a:spLocks noGrp="1"/>
          </p:cNvSpPr>
          <p:nvPr>
            <p:ph type="sldNum" sz="quarter" idx="12"/>
          </p:nvPr>
        </p:nvSpPr>
        <p:spPr/>
        <p:txBody>
          <a:bodyPr/>
          <a:lstStyle/>
          <a:p>
            <a:fld id="{2550199D-BE0D-44CF-9EAD-CFD91A6926FF}" type="slidenum">
              <a:rPr lang="en-US" smtClean="0"/>
              <a:t>‹#›</a:t>
            </a:fld>
            <a:endParaRPr lang="en-US"/>
          </a:p>
        </p:txBody>
      </p:sp>
    </p:spTree>
    <p:extLst>
      <p:ext uri="{BB962C8B-B14F-4D97-AF65-F5344CB8AC3E}">
        <p14:creationId xmlns:p14="http://schemas.microsoft.com/office/powerpoint/2010/main" val="25952827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A41B29-E6FB-C8E7-7B3A-C95540B8CDC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C0ADA16-4C90-43D5-6A44-684D5E1E30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7F3EDF-6B69-3DEE-3790-65B2BAE953E8}"/>
              </a:ext>
            </a:extLst>
          </p:cNvPr>
          <p:cNvSpPr>
            <a:spLocks noGrp="1"/>
          </p:cNvSpPr>
          <p:nvPr>
            <p:ph type="dt" sz="half" idx="10"/>
          </p:nvPr>
        </p:nvSpPr>
        <p:spPr/>
        <p:txBody>
          <a:bodyPr/>
          <a:lstStyle/>
          <a:p>
            <a:fld id="{32FAE18F-3EFF-4C6F-AA42-A5AB4040BF05}" type="datetimeFigureOut">
              <a:rPr lang="en-US" smtClean="0"/>
              <a:t>10/19/2022</a:t>
            </a:fld>
            <a:endParaRPr lang="en-US"/>
          </a:p>
        </p:txBody>
      </p:sp>
      <p:sp>
        <p:nvSpPr>
          <p:cNvPr id="5" name="Footer Placeholder 4">
            <a:extLst>
              <a:ext uri="{FF2B5EF4-FFF2-40B4-BE49-F238E27FC236}">
                <a16:creationId xmlns:a16="http://schemas.microsoft.com/office/drawing/2014/main" id="{4008D86C-C50F-1675-F648-7E1DF43438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D46E9D-AA9E-CD2E-2A91-1269D3729063}"/>
              </a:ext>
            </a:extLst>
          </p:cNvPr>
          <p:cNvSpPr>
            <a:spLocks noGrp="1"/>
          </p:cNvSpPr>
          <p:nvPr>
            <p:ph type="sldNum" sz="quarter" idx="12"/>
          </p:nvPr>
        </p:nvSpPr>
        <p:spPr/>
        <p:txBody>
          <a:bodyPr/>
          <a:lstStyle/>
          <a:p>
            <a:fld id="{2550199D-BE0D-44CF-9EAD-CFD91A6926FF}" type="slidenum">
              <a:rPr lang="en-US" smtClean="0"/>
              <a:t>‹#›</a:t>
            </a:fld>
            <a:endParaRPr lang="en-US"/>
          </a:p>
        </p:txBody>
      </p:sp>
    </p:spTree>
    <p:extLst>
      <p:ext uri="{BB962C8B-B14F-4D97-AF65-F5344CB8AC3E}">
        <p14:creationId xmlns:p14="http://schemas.microsoft.com/office/powerpoint/2010/main" val="63548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BF326E-9480-739A-D605-3B604A2952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498C6E-87C0-17E0-AE52-C0FA32CCBD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390C76-E6EB-602B-6526-502808D885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FAE18F-3EFF-4C6F-AA42-A5AB4040BF05}" type="datetimeFigureOut">
              <a:rPr lang="en-US" smtClean="0"/>
              <a:t>10/19/2022</a:t>
            </a:fld>
            <a:endParaRPr lang="en-US"/>
          </a:p>
        </p:txBody>
      </p:sp>
      <p:sp>
        <p:nvSpPr>
          <p:cNvPr id="5" name="Footer Placeholder 4">
            <a:extLst>
              <a:ext uri="{FF2B5EF4-FFF2-40B4-BE49-F238E27FC236}">
                <a16:creationId xmlns:a16="http://schemas.microsoft.com/office/drawing/2014/main" id="{D005560E-69EF-4047-A54E-5F09E19977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F10C26B-EA82-2B34-0160-AA81D68653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50199D-BE0D-44CF-9EAD-CFD91A6926FF}" type="slidenum">
              <a:rPr lang="en-US" smtClean="0"/>
              <a:t>‹#›</a:t>
            </a:fld>
            <a:endParaRPr lang="en-US"/>
          </a:p>
        </p:txBody>
      </p:sp>
    </p:spTree>
    <p:extLst>
      <p:ext uri="{BB962C8B-B14F-4D97-AF65-F5344CB8AC3E}">
        <p14:creationId xmlns:p14="http://schemas.microsoft.com/office/powerpoint/2010/main" val="36467069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75FD8-BA86-7781-7106-EF8468683589}"/>
              </a:ext>
            </a:extLst>
          </p:cNvPr>
          <p:cNvSpPr>
            <a:spLocks noGrp="1"/>
          </p:cNvSpPr>
          <p:nvPr>
            <p:ph type="ctrTitle"/>
          </p:nvPr>
        </p:nvSpPr>
        <p:spPr/>
        <p:txBody>
          <a:bodyPr>
            <a:normAutofit/>
          </a:bodyPr>
          <a:lstStyle/>
          <a:p>
            <a:r>
              <a:rPr lang="en-US" sz="2800" dirty="0" err="1">
                <a:effectLst/>
                <a:latin typeface="Calibri" panose="020F0502020204030204" pitchFamily="34" charset="0"/>
                <a:ea typeface="DengXian" panose="02010600030101010101" pitchFamily="2" charset="-122"/>
                <a:cs typeface="Arial" panose="020B0604020202020204" pitchFamily="34" charset="0"/>
              </a:rPr>
              <a:t>AssaAbloy</a:t>
            </a:r>
            <a:r>
              <a:rPr lang="en-US" sz="2800" dirty="0">
                <a:effectLst/>
                <a:latin typeface="Calibri" panose="020F0502020204030204" pitchFamily="34" charset="0"/>
                <a:ea typeface="DengXian" panose="02010600030101010101" pitchFamily="2" charset="-122"/>
                <a:cs typeface="Arial" panose="020B0604020202020204" pitchFamily="34" charset="0"/>
              </a:rPr>
              <a:t> Frame Detection POC- Customer Run-off</a:t>
            </a:r>
            <a:br>
              <a:rPr lang="en-US" sz="2800" dirty="0">
                <a:effectLst/>
                <a:latin typeface="Calibri" panose="020F0502020204030204" pitchFamily="34" charset="0"/>
                <a:ea typeface="DengXian" panose="02010600030101010101" pitchFamily="2" charset="-122"/>
                <a:cs typeface="Arial" panose="020B0604020202020204" pitchFamily="34" charset="0"/>
              </a:rPr>
            </a:br>
            <a:r>
              <a:rPr lang="en-US" sz="2800" dirty="0">
                <a:effectLst/>
                <a:latin typeface="Calibri" panose="020F0502020204030204" pitchFamily="34" charset="0"/>
                <a:ea typeface="DengXian" panose="02010600030101010101" pitchFamily="2" charset="-122"/>
                <a:cs typeface="Arial" panose="020B0604020202020204" pitchFamily="34" charset="0"/>
              </a:rPr>
              <a:t>Dan McGuire visit Oct 18, 2022</a:t>
            </a:r>
            <a:br>
              <a:rPr lang="en-US" sz="2800" dirty="0">
                <a:effectLst/>
                <a:latin typeface="Calibri" panose="020F0502020204030204" pitchFamily="34" charset="0"/>
                <a:ea typeface="DengXian" panose="02010600030101010101" pitchFamily="2" charset="-122"/>
                <a:cs typeface="Arial" panose="020B0604020202020204" pitchFamily="34" charset="0"/>
              </a:rPr>
            </a:br>
            <a:endParaRPr lang="en-US" sz="2800" dirty="0"/>
          </a:p>
        </p:txBody>
      </p:sp>
    </p:spTree>
    <p:extLst>
      <p:ext uri="{BB962C8B-B14F-4D97-AF65-F5344CB8AC3E}">
        <p14:creationId xmlns:p14="http://schemas.microsoft.com/office/powerpoint/2010/main" val="435730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6EE0CD-21CF-69A2-22A2-C2FA09DC8D52}"/>
              </a:ext>
            </a:extLst>
          </p:cNvPr>
          <p:cNvSpPr>
            <a:spLocks noGrp="1"/>
          </p:cNvSpPr>
          <p:nvPr>
            <p:ph idx="1"/>
          </p:nvPr>
        </p:nvSpPr>
        <p:spPr/>
        <p:txBody>
          <a:bodyPr/>
          <a:lstStyle/>
          <a:p>
            <a:pPr marL="0" marR="0">
              <a:spcBef>
                <a:spcPts val="0"/>
              </a:spcBef>
              <a:spcAft>
                <a:spcPts val="0"/>
              </a:spcAft>
            </a:pPr>
            <a:r>
              <a:rPr lang="en-US" sz="1800" dirty="0">
                <a:effectLst/>
                <a:latin typeface="Calibri" panose="020F0502020204030204" pitchFamily="34" charset="0"/>
                <a:ea typeface="DengXian" panose="02010600030101010101" pitchFamily="2" charset="-122"/>
                <a:cs typeface="Arial" panose="020B0604020202020204" pitchFamily="34" charset="0"/>
              </a:rPr>
              <a:t>Frame processing- discussed the stack Lights, sensor trigger, image capture, and frame movement. Simplified Process sheet was discussed. (Slide 2- Also Word file attached)</a:t>
            </a:r>
          </a:p>
          <a:p>
            <a:pPr marL="0" marR="0">
              <a:spcBef>
                <a:spcPts val="0"/>
              </a:spcBef>
              <a:spcAft>
                <a:spcPts val="0"/>
              </a:spcAft>
            </a:pPr>
            <a:r>
              <a:rPr lang="en-US" sz="1800" dirty="0">
                <a:latin typeface="Calibri" panose="020F0502020204030204" pitchFamily="34" charset="0"/>
                <a:ea typeface="DengXian" panose="02010600030101010101" pitchFamily="2" charset="-122"/>
                <a:cs typeface="Arial" panose="020B0604020202020204" pitchFamily="34" charset="0"/>
              </a:rPr>
              <a:t>D</a:t>
            </a:r>
            <a:r>
              <a:rPr lang="en-US" sz="1800" dirty="0">
                <a:effectLst/>
                <a:latin typeface="Calibri" panose="020F0502020204030204" pitchFamily="34" charset="0"/>
                <a:ea typeface="DengXian" panose="02010600030101010101" pitchFamily="2" charset="-122"/>
                <a:cs typeface="Arial" panose="020B0604020202020204" pitchFamily="34" charset="0"/>
              </a:rPr>
              <a:t>iscussed the need for more data to tune the algorithms efficiency. Dan suggested 10 more frames to be build with defects and sent. Two of these would be of different color for a specific customer (BSC).</a:t>
            </a:r>
          </a:p>
          <a:p>
            <a:pPr marL="0">
              <a:spcBef>
                <a:spcPts val="0"/>
              </a:spcBef>
            </a:pPr>
            <a:r>
              <a:rPr lang="en-US" sz="1800" dirty="0">
                <a:effectLst/>
                <a:latin typeface="Calibri" panose="020F0502020204030204" pitchFamily="34" charset="0"/>
                <a:ea typeface="DengXian" panose="02010600030101010101" pitchFamily="2" charset="-122"/>
                <a:cs typeface="Arial" panose="020B0604020202020204" pitchFamily="34" charset="0"/>
              </a:rPr>
              <a:t>Strike side and hinge side defined and numbering set. (See Slide 4)Frames will be run through in this orientation.</a:t>
            </a:r>
          </a:p>
          <a:p>
            <a:pPr marL="0" marR="0">
              <a:spcBef>
                <a:spcPts val="0"/>
              </a:spcBef>
              <a:spcAft>
                <a:spcPts val="0"/>
              </a:spcAft>
            </a:pPr>
            <a:r>
              <a:rPr lang="en-US" sz="1800" dirty="0">
                <a:effectLst/>
                <a:latin typeface="Calibri" panose="020F0502020204030204" pitchFamily="34" charset="0"/>
                <a:ea typeface="DengXian" panose="02010600030101010101" pitchFamily="2" charset="-122"/>
                <a:cs typeface="Arial" panose="020B0604020202020204" pitchFamily="34" charset="0"/>
              </a:rPr>
              <a:t>Frist priority would be to detect the frame angle deviation.(inward or outward-&lt;/&gt; 90 degrees.(Slide 5)</a:t>
            </a:r>
          </a:p>
          <a:p>
            <a:pPr marL="0" marR="0">
              <a:spcBef>
                <a:spcPts val="0"/>
              </a:spcBef>
              <a:spcAft>
                <a:spcPts val="0"/>
              </a:spcAft>
            </a:pPr>
            <a:r>
              <a:rPr lang="en-US" sz="1800" dirty="0">
                <a:effectLst/>
                <a:latin typeface="Calibri" panose="020F0502020204030204" pitchFamily="34" charset="0"/>
                <a:ea typeface="DengXian" panose="02010600030101010101" pitchFamily="2" charset="-122"/>
                <a:cs typeface="Arial" panose="020B0604020202020204" pitchFamily="34" charset="0"/>
              </a:rPr>
              <a:t>A tablet to display results was discussed. Screen to display what corner is out of square (Slide 4)</a:t>
            </a:r>
          </a:p>
          <a:p>
            <a:pPr marL="0">
              <a:spcBef>
                <a:spcPts val="0"/>
              </a:spcBef>
            </a:pPr>
            <a:r>
              <a:rPr lang="en-US" sz="1800" dirty="0">
                <a:effectLst/>
                <a:latin typeface="Calibri" panose="020F0502020204030204" pitchFamily="34" charset="0"/>
                <a:ea typeface="DengXian" panose="02010600030101010101" pitchFamily="2" charset="-122"/>
                <a:cs typeface="Arial" panose="020B0604020202020204" pitchFamily="34" charset="0"/>
              </a:rPr>
              <a:t>Red/Green result stack light took more than 35 seconds, which is not acceptable. Clarified that this will improve when the server moves from India to USA host.</a:t>
            </a:r>
          </a:p>
          <a:p>
            <a:pPr marL="0" marR="0">
              <a:spcBef>
                <a:spcPts val="0"/>
              </a:spcBef>
              <a:spcAft>
                <a:spcPts val="0"/>
              </a:spcAft>
            </a:pPr>
            <a:r>
              <a:rPr lang="en-US" sz="1800" dirty="0">
                <a:effectLst/>
                <a:latin typeface="Calibri" panose="020F0502020204030204" pitchFamily="34" charset="0"/>
                <a:ea typeface="DengXian" panose="02010600030101010101" pitchFamily="2" charset="-122"/>
                <a:cs typeface="Arial" panose="020B0604020202020204" pitchFamily="34" charset="0"/>
              </a:rPr>
              <a:t>Future improvements: to identify frame a bar code scanner integration was discussed. Dan to provide the current bar code reader used at the plant. </a:t>
            </a:r>
          </a:p>
          <a:p>
            <a:pPr marL="0" marR="0">
              <a:spcBef>
                <a:spcPts val="0"/>
              </a:spcBef>
              <a:spcAft>
                <a:spcPts val="0"/>
              </a:spcAft>
            </a:pPr>
            <a:r>
              <a:rPr lang="en-US" sz="1800" dirty="0">
                <a:latin typeface="Calibri" panose="020F0502020204030204" pitchFamily="34" charset="0"/>
                <a:ea typeface="DengXian" panose="02010600030101010101" pitchFamily="2" charset="-122"/>
                <a:cs typeface="Arial" panose="020B0604020202020204" pitchFamily="34" charset="0"/>
              </a:rPr>
              <a:t>Question Dan asked: How do we build intelligence in a LIVE Production Operation?</a:t>
            </a:r>
            <a:endParaRPr lang="en-US" sz="1800" dirty="0">
              <a:effectLst/>
              <a:latin typeface="Calibri" panose="020F0502020204030204" pitchFamily="34" charset="0"/>
              <a:ea typeface="DengXian" panose="02010600030101010101" pitchFamily="2" charset="-122"/>
              <a:cs typeface="Arial" panose="020B0604020202020204" pitchFamily="34" charset="0"/>
            </a:endParaRPr>
          </a:p>
          <a:p>
            <a:endParaRPr lang="en-US" dirty="0"/>
          </a:p>
        </p:txBody>
      </p:sp>
      <p:sp>
        <p:nvSpPr>
          <p:cNvPr id="4" name="TextBox 3">
            <a:extLst>
              <a:ext uri="{FF2B5EF4-FFF2-40B4-BE49-F238E27FC236}">
                <a16:creationId xmlns:a16="http://schemas.microsoft.com/office/drawing/2014/main" id="{95A65846-58AB-0FCD-80FF-9BC6232C2321}"/>
              </a:ext>
            </a:extLst>
          </p:cNvPr>
          <p:cNvSpPr txBox="1"/>
          <p:nvPr/>
        </p:nvSpPr>
        <p:spPr>
          <a:xfrm>
            <a:off x="933450" y="1456293"/>
            <a:ext cx="1885950" cy="369332"/>
          </a:xfrm>
          <a:prstGeom prst="rect">
            <a:avLst/>
          </a:prstGeom>
          <a:noFill/>
        </p:spPr>
        <p:txBody>
          <a:bodyPr wrap="square" rtlCol="0">
            <a:spAutoFit/>
          </a:bodyPr>
          <a:lstStyle/>
          <a:p>
            <a:r>
              <a:rPr lang="en-US" b="1" u="sng" dirty="0"/>
              <a:t>Short Notes:</a:t>
            </a:r>
          </a:p>
        </p:txBody>
      </p:sp>
    </p:spTree>
    <p:extLst>
      <p:ext uri="{BB962C8B-B14F-4D97-AF65-F5344CB8AC3E}">
        <p14:creationId xmlns:p14="http://schemas.microsoft.com/office/powerpoint/2010/main" val="3339033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31BA165-F481-F42E-2982-E34005839472}"/>
              </a:ext>
            </a:extLst>
          </p:cNvPr>
          <p:cNvPicPr>
            <a:picLocks noChangeAspect="1"/>
          </p:cNvPicPr>
          <p:nvPr/>
        </p:nvPicPr>
        <p:blipFill>
          <a:blip r:embed="rId2"/>
          <a:stretch>
            <a:fillRect/>
          </a:stretch>
        </p:blipFill>
        <p:spPr>
          <a:xfrm>
            <a:off x="3948112" y="323850"/>
            <a:ext cx="4295775" cy="6210300"/>
          </a:xfrm>
          <a:prstGeom prst="rect">
            <a:avLst/>
          </a:prstGeom>
        </p:spPr>
      </p:pic>
    </p:spTree>
    <p:extLst>
      <p:ext uri="{BB962C8B-B14F-4D97-AF65-F5344CB8AC3E}">
        <p14:creationId xmlns:p14="http://schemas.microsoft.com/office/powerpoint/2010/main" val="3933006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B4560200-1F7F-D84F-9990-F8ECF68C4D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390" y="2192228"/>
            <a:ext cx="2967583" cy="3990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a:extLst>
              <a:ext uri="{FF2B5EF4-FFF2-40B4-BE49-F238E27FC236}">
                <a16:creationId xmlns:a16="http://schemas.microsoft.com/office/drawing/2014/main" id="{2A6799B8-B3F9-12FA-D71C-00A30F4A44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15040" y="2230988"/>
            <a:ext cx="2938760" cy="3951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C82A6E5C-FCD1-FD43-EB84-9F34F8833CC4}"/>
              </a:ext>
            </a:extLst>
          </p:cNvPr>
          <p:cNvSpPr txBox="1"/>
          <p:nvPr/>
        </p:nvSpPr>
        <p:spPr>
          <a:xfrm>
            <a:off x="4124594" y="2184181"/>
            <a:ext cx="4022961" cy="369332"/>
          </a:xfrm>
          <a:prstGeom prst="rect">
            <a:avLst/>
          </a:prstGeom>
          <a:noFill/>
        </p:spPr>
        <p:txBody>
          <a:bodyPr wrap="none" rtlCol="0">
            <a:spAutoFit/>
          </a:bodyPr>
          <a:lstStyle/>
          <a:p>
            <a:r>
              <a:rPr lang="en-US" dirty="0"/>
              <a:t>Run Frame – Direction – Strike Jamb First</a:t>
            </a:r>
          </a:p>
        </p:txBody>
      </p:sp>
      <p:sp>
        <p:nvSpPr>
          <p:cNvPr id="6" name="TextBox 5">
            <a:extLst>
              <a:ext uri="{FF2B5EF4-FFF2-40B4-BE49-F238E27FC236}">
                <a16:creationId xmlns:a16="http://schemas.microsoft.com/office/drawing/2014/main" id="{4D193C56-CE27-1C02-AABA-B0DB816AD1EA}"/>
              </a:ext>
            </a:extLst>
          </p:cNvPr>
          <p:cNvSpPr txBox="1"/>
          <p:nvPr/>
        </p:nvSpPr>
        <p:spPr>
          <a:xfrm>
            <a:off x="4124594" y="2828835"/>
            <a:ext cx="4043736" cy="1200329"/>
          </a:xfrm>
          <a:prstGeom prst="rect">
            <a:avLst/>
          </a:prstGeom>
          <a:noFill/>
        </p:spPr>
        <p:txBody>
          <a:bodyPr wrap="none" rtlCol="0">
            <a:spAutoFit/>
          </a:bodyPr>
          <a:lstStyle/>
          <a:p>
            <a:r>
              <a:rPr lang="en-US" dirty="0"/>
              <a:t>Corner (1)- Strike Rabbit to Head</a:t>
            </a:r>
          </a:p>
          <a:p>
            <a:r>
              <a:rPr lang="en-US" dirty="0"/>
              <a:t>Corner (2)-Rabbit to head opposite Strike</a:t>
            </a:r>
          </a:p>
          <a:p>
            <a:r>
              <a:rPr lang="en-US" dirty="0"/>
              <a:t>Corner (3)-Hinge Rabbit to head</a:t>
            </a:r>
          </a:p>
          <a:p>
            <a:r>
              <a:rPr lang="en-US" dirty="0"/>
              <a:t>Corner (4)-Rabbit to head Opposite Head</a:t>
            </a:r>
          </a:p>
        </p:txBody>
      </p:sp>
      <p:sp>
        <p:nvSpPr>
          <p:cNvPr id="7" name="TextBox 6">
            <a:extLst>
              <a:ext uri="{FF2B5EF4-FFF2-40B4-BE49-F238E27FC236}">
                <a16:creationId xmlns:a16="http://schemas.microsoft.com/office/drawing/2014/main" id="{9B58244E-B750-D323-346B-15D76918539A}"/>
              </a:ext>
            </a:extLst>
          </p:cNvPr>
          <p:cNvSpPr txBox="1"/>
          <p:nvPr/>
        </p:nvSpPr>
        <p:spPr>
          <a:xfrm>
            <a:off x="2413231" y="1591506"/>
            <a:ext cx="1161472" cy="369332"/>
          </a:xfrm>
          <a:prstGeom prst="rect">
            <a:avLst/>
          </a:prstGeom>
          <a:noFill/>
        </p:spPr>
        <p:txBody>
          <a:bodyPr wrap="none" rtlCol="0">
            <a:spAutoFit/>
          </a:bodyPr>
          <a:lstStyle/>
          <a:p>
            <a:r>
              <a:rPr lang="en-US" dirty="0"/>
              <a:t>Strike Side</a:t>
            </a:r>
          </a:p>
        </p:txBody>
      </p:sp>
      <p:cxnSp>
        <p:nvCxnSpPr>
          <p:cNvPr id="9" name="Straight Arrow Connector 8">
            <a:extLst>
              <a:ext uri="{FF2B5EF4-FFF2-40B4-BE49-F238E27FC236}">
                <a16:creationId xmlns:a16="http://schemas.microsoft.com/office/drawing/2014/main" id="{D22E39B5-1E2B-FC6B-646B-2ADD32604BF5}"/>
              </a:ext>
            </a:extLst>
          </p:cNvPr>
          <p:cNvCxnSpPr>
            <a:stCxn id="7" idx="2"/>
          </p:cNvCxnSpPr>
          <p:nvPr/>
        </p:nvCxnSpPr>
        <p:spPr>
          <a:xfrm flipH="1">
            <a:off x="2390775" y="1960838"/>
            <a:ext cx="603192" cy="496612"/>
          </a:xfrm>
          <a:prstGeom prst="straightConnector1">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4618C21-54A4-B558-7BF2-997CE0008006}"/>
              </a:ext>
            </a:extLst>
          </p:cNvPr>
          <p:cNvSpPr txBox="1"/>
          <p:nvPr/>
        </p:nvSpPr>
        <p:spPr>
          <a:xfrm>
            <a:off x="7095067" y="5257597"/>
            <a:ext cx="1175002" cy="369332"/>
          </a:xfrm>
          <a:prstGeom prst="rect">
            <a:avLst/>
          </a:prstGeom>
          <a:noFill/>
        </p:spPr>
        <p:txBody>
          <a:bodyPr wrap="none" rtlCol="0">
            <a:spAutoFit/>
          </a:bodyPr>
          <a:lstStyle/>
          <a:p>
            <a:r>
              <a:rPr lang="en-US" dirty="0"/>
              <a:t>Hinge Side</a:t>
            </a:r>
          </a:p>
        </p:txBody>
      </p:sp>
      <p:cxnSp>
        <p:nvCxnSpPr>
          <p:cNvPr id="11" name="Straight Arrow Connector 10">
            <a:extLst>
              <a:ext uri="{FF2B5EF4-FFF2-40B4-BE49-F238E27FC236}">
                <a16:creationId xmlns:a16="http://schemas.microsoft.com/office/drawing/2014/main" id="{A0F833BF-670A-3699-D91F-8EBCF4AF8232}"/>
              </a:ext>
            </a:extLst>
          </p:cNvPr>
          <p:cNvCxnSpPr>
            <a:cxnSpLocks/>
            <a:stCxn id="10" idx="3"/>
          </p:cNvCxnSpPr>
          <p:nvPr/>
        </p:nvCxnSpPr>
        <p:spPr>
          <a:xfrm flipV="1">
            <a:off x="8270069" y="4772025"/>
            <a:ext cx="1702606" cy="670238"/>
          </a:xfrm>
          <a:prstGeom prst="straightConnector1">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EE05A63-A7D2-D7BE-DEA2-AEFDED2A69A8}"/>
              </a:ext>
            </a:extLst>
          </p:cNvPr>
          <p:cNvSpPr txBox="1"/>
          <p:nvPr/>
        </p:nvSpPr>
        <p:spPr>
          <a:xfrm>
            <a:off x="9972675" y="1231071"/>
            <a:ext cx="793807" cy="369332"/>
          </a:xfrm>
          <a:prstGeom prst="rect">
            <a:avLst/>
          </a:prstGeom>
          <a:noFill/>
        </p:spPr>
        <p:txBody>
          <a:bodyPr wrap="none" rtlCol="0">
            <a:spAutoFit/>
          </a:bodyPr>
          <a:lstStyle/>
          <a:p>
            <a:r>
              <a:rPr lang="en-US" dirty="0"/>
              <a:t>Rabbit</a:t>
            </a:r>
          </a:p>
        </p:txBody>
      </p:sp>
      <p:cxnSp>
        <p:nvCxnSpPr>
          <p:cNvPr id="16" name="Straight Arrow Connector 15">
            <a:extLst>
              <a:ext uri="{FF2B5EF4-FFF2-40B4-BE49-F238E27FC236}">
                <a16:creationId xmlns:a16="http://schemas.microsoft.com/office/drawing/2014/main" id="{BFB33E59-D795-94F3-F6B1-6BFDAD899471}"/>
              </a:ext>
            </a:extLst>
          </p:cNvPr>
          <p:cNvCxnSpPr>
            <a:cxnSpLocks/>
            <a:stCxn id="15" idx="2"/>
          </p:cNvCxnSpPr>
          <p:nvPr/>
        </p:nvCxnSpPr>
        <p:spPr>
          <a:xfrm flipH="1">
            <a:off x="9972675" y="1600403"/>
            <a:ext cx="396904" cy="768444"/>
          </a:xfrm>
          <a:prstGeom prst="straightConnector1">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FE7D370-E986-5DA3-82CC-4D827FC321FB}"/>
              </a:ext>
            </a:extLst>
          </p:cNvPr>
          <p:cNvCxnSpPr>
            <a:cxnSpLocks/>
          </p:cNvCxnSpPr>
          <p:nvPr/>
        </p:nvCxnSpPr>
        <p:spPr>
          <a:xfrm>
            <a:off x="10392035" y="1600403"/>
            <a:ext cx="275965" cy="768444"/>
          </a:xfrm>
          <a:prstGeom prst="straightConnector1">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597AB67D-546D-41E8-2676-566F7B5D263A}"/>
              </a:ext>
            </a:extLst>
          </p:cNvPr>
          <p:cNvSpPr txBox="1"/>
          <p:nvPr/>
        </p:nvSpPr>
        <p:spPr>
          <a:xfrm>
            <a:off x="3641944" y="5486934"/>
            <a:ext cx="1161472" cy="369332"/>
          </a:xfrm>
          <a:prstGeom prst="rect">
            <a:avLst/>
          </a:prstGeom>
          <a:noFill/>
        </p:spPr>
        <p:txBody>
          <a:bodyPr wrap="square" rtlCol="0">
            <a:spAutoFit/>
          </a:bodyPr>
          <a:lstStyle/>
          <a:p>
            <a:r>
              <a:rPr lang="en-US" dirty="0"/>
              <a:t>Head</a:t>
            </a:r>
          </a:p>
        </p:txBody>
      </p:sp>
      <p:cxnSp>
        <p:nvCxnSpPr>
          <p:cNvPr id="23" name="Straight Arrow Connector 22">
            <a:extLst>
              <a:ext uri="{FF2B5EF4-FFF2-40B4-BE49-F238E27FC236}">
                <a16:creationId xmlns:a16="http://schemas.microsoft.com/office/drawing/2014/main" id="{F072FFBF-52AB-D859-6352-5BA28EC5999F}"/>
              </a:ext>
            </a:extLst>
          </p:cNvPr>
          <p:cNvCxnSpPr>
            <a:cxnSpLocks/>
          </p:cNvCxnSpPr>
          <p:nvPr/>
        </p:nvCxnSpPr>
        <p:spPr>
          <a:xfrm flipH="1">
            <a:off x="2318037" y="5695950"/>
            <a:ext cx="1323907" cy="287799"/>
          </a:xfrm>
          <a:prstGeom prst="straightConnector1">
            <a:avLst/>
          </a:prstGeom>
          <a:ln w="47625">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9847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629327-D544-D2A7-0849-56CB39ADDB6D}"/>
              </a:ext>
            </a:extLst>
          </p:cNvPr>
          <p:cNvSpPr>
            <a:spLocks noGrp="1"/>
          </p:cNvSpPr>
          <p:nvPr>
            <p:ph idx="1"/>
          </p:nvPr>
        </p:nvSpPr>
        <p:spPr>
          <a:xfrm>
            <a:off x="3749720" y="-1338754"/>
            <a:ext cx="1973194" cy="1130709"/>
          </a:xfrm>
        </p:spPr>
        <p:txBody>
          <a:bodyPr/>
          <a:lstStyle/>
          <a:p>
            <a:endParaRPr lang="en-US" dirty="0"/>
          </a:p>
        </p:txBody>
      </p:sp>
      <p:pic>
        <p:nvPicPr>
          <p:cNvPr id="2050" name="Picture 2">
            <a:extLst>
              <a:ext uri="{FF2B5EF4-FFF2-40B4-BE49-F238E27FC236}">
                <a16:creationId xmlns:a16="http://schemas.microsoft.com/office/drawing/2014/main" id="{4DA6A254-CD7F-5C5A-0C43-8F9A0D24EF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670" y="1690688"/>
            <a:ext cx="3180505" cy="427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Picture 3">
            <a:extLst>
              <a:ext uri="{FF2B5EF4-FFF2-40B4-BE49-F238E27FC236}">
                <a16:creationId xmlns:a16="http://schemas.microsoft.com/office/drawing/2014/main" id="{A8843B48-B778-BDDE-9978-4DC02BC6A4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5227" y="1690688"/>
            <a:ext cx="3207732" cy="427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CEDD217E-5EDC-0835-57B2-F1735B6B2EED}"/>
              </a:ext>
            </a:extLst>
          </p:cNvPr>
          <p:cNvSpPr txBox="1"/>
          <p:nvPr/>
        </p:nvSpPr>
        <p:spPr>
          <a:xfrm>
            <a:off x="4139560" y="3124200"/>
            <a:ext cx="3344826" cy="1200329"/>
          </a:xfrm>
          <a:prstGeom prst="rect">
            <a:avLst/>
          </a:prstGeom>
          <a:noFill/>
        </p:spPr>
        <p:txBody>
          <a:bodyPr wrap="none" rtlCol="0">
            <a:spAutoFit/>
          </a:bodyPr>
          <a:lstStyle/>
          <a:p>
            <a:r>
              <a:rPr lang="en-US" b="1" u="sng" dirty="0"/>
              <a:t>Determine Square</a:t>
            </a:r>
          </a:p>
          <a:p>
            <a:r>
              <a:rPr lang="en-US" dirty="0"/>
              <a:t>(1)Hinge Jamb to Head- Door side</a:t>
            </a:r>
          </a:p>
          <a:p>
            <a:r>
              <a:rPr lang="en-US" dirty="0"/>
              <a:t>(2)Strike side to Head-Door Side</a:t>
            </a:r>
          </a:p>
          <a:p>
            <a:endParaRPr lang="en-US" dirty="0"/>
          </a:p>
        </p:txBody>
      </p:sp>
      <p:sp>
        <p:nvSpPr>
          <p:cNvPr id="5" name="TextBox 4">
            <a:extLst>
              <a:ext uri="{FF2B5EF4-FFF2-40B4-BE49-F238E27FC236}">
                <a16:creationId xmlns:a16="http://schemas.microsoft.com/office/drawing/2014/main" id="{9C15E46C-C1A2-E02D-AE1E-624BB0E7C9B3}"/>
              </a:ext>
            </a:extLst>
          </p:cNvPr>
          <p:cNvSpPr txBox="1"/>
          <p:nvPr/>
        </p:nvSpPr>
        <p:spPr>
          <a:xfrm>
            <a:off x="1814593" y="1417916"/>
            <a:ext cx="1238250" cy="369332"/>
          </a:xfrm>
          <a:prstGeom prst="rect">
            <a:avLst/>
          </a:prstGeom>
          <a:noFill/>
        </p:spPr>
        <p:txBody>
          <a:bodyPr wrap="square" rtlCol="0">
            <a:spAutoFit/>
          </a:bodyPr>
          <a:lstStyle/>
          <a:p>
            <a:r>
              <a:rPr lang="en-US" dirty="0"/>
              <a:t>Inward</a:t>
            </a:r>
          </a:p>
        </p:txBody>
      </p:sp>
      <p:sp>
        <p:nvSpPr>
          <p:cNvPr id="6" name="TextBox 5">
            <a:extLst>
              <a:ext uri="{FF2B5EF4-FFF2-40B4-BE49-F238E27FC236}">
                <a16:creationId xmlns:a16="http://schemas.microsoft.com/office/drawing/2014/main" id="{B8CE1080-4801-C8C4-D38A-45077BCC9984}"/>
              </a:ext>
            </a:extLst>
          </p:cNvPr>
          <p:cNvSpPr txBox="1"/>
          <p:nvPr/>
        </p:nvSpPr>
        <p:spPr>
          <a:xfrm>
            <a:off x="8799968" y="1369636"/>
            <a:ext cx="1238250" cy="369332"/>
          </a:xfrm>
          <a:prstGeom prst="rect">
            <a:avLst/>
          </a:prstGeom>
          <a:noFill/>
        </p:spPr>
        <p:txBody>
          <a:bodyPr wrap="square" rtlCol="0">
            <a:spAutoFit/>
          </a:bodyPr>
          <a:lstStyle/>
          <a:p>
            <a:r>
              <a:rPr lang="en-US" dirty="0"/>
              <a:t>Outward</a:t>
            </a:r>
          </a:p>
        </p:txBody>
      </p:sp>
      <p:sp>
        <p:nvSpPr>
          <p:cNvPr id="7" name="TextBox 6">
            <a:extLst>
              <a:ext uri="{FF2B5EF4-FFF2-40B4-BE49-F238E27FC236}">
                <a16:creationId xmlns:a16="http://schemas.microsoft.com/office/drawing/2014/main" id="{4618FEDC-8043-4A26-6185-FF9BD3D1DCEC}"/>
              </a:ext>
            </a:extLst>
          </p:cNvPr>
          <p:cNvSpPr txBox="1"/>
          <p:nvPr/>
        </p:nvSpPr>
        <p:spPr>
          <a:xfrm>
            <a:off x="4447794" y="4419600"/>
            <a:ext cx="2782813" cy="646331"/>
          </a:xfrm>
          <a:prstGeom prst="rect">
            <a:avLst/>
          </a:prstGeom>
          <a:noFill/>
        </p:spPr>
        <p:txBody>
          <a:bodyPr wrap="none" rtlCol="0">
            <a:spAutoFit/>
          </a:bodyPr>
          <a:lstStyle/>
          <a:p>
            <a:pPr algn="ctr"/>
            <a:r>
              <a:rPr lang="en-US" b="1" u="sng" dirty="0"/>
              <a:t>Corner (1) and (3) are Most</a:t>
            </a:r>
          </a:p>
          <a:p>
            <a:pPr algn="ctr"/>
            <a:r>
              <a:rPr lang="en-US" b="1" u="sng" dirty="0"/>
              <a:t>Important for Square</a:t>
            </a:r>
          </a:p>
        </p:txBody>
      </p:sp>
    </p:spTree>
    <p:extLst>
      <p:ext uri="{BB962C8B-B14F-4D97-AF65-F5344CB8AC3E}">
        <p14:creationId xmlns:p14="http://schemas.microsoft.com/office/powerpoint/2010/main" val="10162307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311</Words>
  <Application>Microsoft Office PowerPoint</Application>
  <PresentationFormat>Widescreen</PresentationFormat>
  <Paragraphs>26</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AssaAbloy Frame Detection POC- Customer Run-off Dan McGuire visit Oct 18, 2022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AssaAbloy Frame Detection POC- Customer Run-off Dan McGuire visit Oct 18, 2022 </dc:title>
  <dc:creator>Sudhakar Navathe</dc:creator>
  <cp:lastModifiedBy>Sudhakar Navathe</cp:lastModifiedBy>
  <cp:revision>2</cp:revision>
  <dcterms:created xsi:type="dcterms:W3CDTF">2022-10-19T23:08:41Z</dcterms:created>
  <dcterms:modified xsi:type="dcterms:W3CDTF">2022-10-20T00:01:19Z</dcterms:modified>
</cp:coreProperties>
</file>